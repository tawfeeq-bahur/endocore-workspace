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4591" r:id="rId2"/>
    <p:sldMasterId id="2147484579" r:id="rId3"/>
  </p:sldMasterIdLst>
  <p:notesMasterIdLst>
    <p:notesMasterId r:id="rId17"/>
  </p:notesMasterIdLst>
  <p:handoutMasterIdLst>
    <p:handoutMasterId r:id="rId18"/>
  </p:handoutMasterIdLst>
  <p:sldIdLst>
    <p:sldId id="442" r:id="rId4"/>
    <p:sldId id="749" r:id="rId5"/>
    <p:sldId id="747" r:id="rId6"/>
    <p:sldId id="728" r:id="rId7"/>
    <p:sldId id="737" r:id="rId8"/>
    <p:sldId id="738" r:id="rId9"/>
    <p:sldId id="739" r:id="rId10"/>
    <p:sldId id="740" r:id="rId11"/>
    <p:sldId id="741" r:id="rId12"/>
    <p:sldId id="745" r:id="rId13"/>
    <p:sldId id="748" r:id="rId14"/>
    <p:sldId id="743" r:id="rId15"/>
    <p:sldId id="725" r:id="rId16"/>
  </p:sldIdLst>
  <p:sldSz cx="9144000" cy="6858000" type="screen4x3"/>
  <p:notesSz cx="6811963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iram Yadav" initials="SY" lastIdx="1" clrIdx="0">
    <p:extLst>
      <p:ext uri="{19B8F6BF-5375-455C-9EA6-DF929625EA0E}">
        <p15:presenceInfo xmlns:p15="http://schemas.microsoft.com/office/powerpoint/2012/main" userId="11ecc7d3f84f464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FF3399"/>
    <a:srgbClr val="AC0000"/>
    <a:srgbClr val="3366FF"/>
    <a:srgbClr val="B9077E"/>
    <a:srgbClr val="9C2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50" autoAdjust="0"/>
    <p:restoredTop sz="94394" autoAdjust="0"/>
  </p:normalViewPr>
  <p:slideViewPr>
    <p:cSldViewPr>
      <p:cViewPr varScale="1">
        <p:scale>
          <a:sx n="89" d="100"/>
          <a:sy n="89" d="100"/>
        </p:scale>
        <p:origin x="1310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/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8536" y="0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/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7A49BD9-C15B-4CCE-BA8B-28A7138E7D46}" type="datetime3">
              <a:rPr lang="en-US" smtClean="0"/>
              <a:pPr>
                <a:defRPr/>
              </a:pPr>
              <a:t>20 July 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3661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 anchor="b"/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IN" dirty="0"/>
              <a:t>1-59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</p:spPr>
        <p:txBody>
          <a:bodyPr vert="horz" wrap="square" lIns="95728" tIns="47864" rIns="95728" bIns="478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B41858EF-1881-4336-AB88-9472B4E482B1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4457016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8536" y="0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745AF635-11AF-450F-B773-692E6CB212DF}" type="datetime3">
              <a:rPr lang="en-US" smtClean="0"/>
              <a:pPr>
                <a:defRPr/>
              </a:pPr>
              <a:t>20 July 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728" tIns="47864" rIns="95728" bIns="47864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vert="horz" lIns="95728" tIns="47864" rIns="95728" bIns="47864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3661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1-59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</p:spPr>
        <p:txBody>
          <a:bodyPr vert="horz" wrap="square" lIns="95728" tIns="47864" rIns="95728" bIns="478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2587D5A1-37CC-4B13-9F17-5059BEF349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749200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2AF8618D-51AD-40EB-86A2-24DEC409AC1E}" type="datetime3">
              <a:rPr lang="en-US" smtClean="0"/>
              <a:pPr>
                <a:defRPr/>
              </a:pPr>
              <a:t>20 July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1-59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D5A1-37CC-4B13-9F17-5059BEF349E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279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DB0377D7-24A5-481F-908F-768F4687DD04}" type="slidenum">
              <a:rPr lang="en-US" altLang="en-US">
                <a:latin typeface="Calibri" panose="020F0502020204030204" pitchFamily="34" charset="0"/>
              </a:rPr>
              <a:pPr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591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DB0377D7-24A5-481F-908F-768F4687DD04}" type="slidenum">
              <a:rPr lang="en-US" altLang="en-US">
                <a:latin typeface="Calibri" panose="020F0502020204030204" pitchFamily="34" charset="0"/>
              </a:rPr>
              <a:pPr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591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DB0377D7-24A5-481F-908F-768F4687DD04}" type="slidenum">
              <a:rPr lang="en-US" altLang="en-US">
                <a:latin typeface="Calibri" panose="020F0502020204030204" pitchFamily="34" charset="0"/>
              </a:rPr>
              <a:pPr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59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8711EB-544A-4405-9B07-930EC371C035}" type="datetime5">
              <a:rPr lang="en-US" smtClean="0"/>
              <a:pPr>
                <a:defRPr/>
              </a:pPr>
              <a:t>20-Jul-26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413D5B-0279-47B2-AB44-E806A00ECAC5}" type="datetime5">
              <a:rPr lang="en-US" smtClean="0"/>
              <a:pPr>
                <a:defRPr/>
              </a:pPr>
              <a:t>20-Jul-26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568E9-B9E9-4171-B614-6B8CD7508211}" type="datetime5">
              <a:rPr lang="en-US" smtClean="0"/>
              <a:pPr>
                <a:defRPr/>
              </a:pPr>
              <a:t>20-Jul-26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9F4348-0461-4A32-B5EC-44A54333EEB4}" type="datetime5">
              <a:rPr lang="en-US" smtClean="0"/>
              <a:pPr>
                <a:defRPr/>
              </a:pPr>
              <a:t>20-Jul-26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54709-D76C-492B-9E83-DA5CE41081DB}" type="datetime5">
              <a:rPr lang="en-US" smtClean="0"/>
              <a:pPr>
                <a:defRPr/>
              </a:pPr>
              <a:t>20-Jul-26</a:t>
            </a:fld>
            <a:endParaRPr lang="en-US" dirty="0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5A5D3-A5C5-41BC-AC1B-78376003971C}" type="datetime5">
              <a:rPr lang="en-US" smtClean="0"/>
              <a:pPr>
                <a:defRPr/>
              </a:pPr>
              <a:t>20-Jul-26</a:t>
            </a:fld>
            <a:endParaRPr lang="en-US" dirty="0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A4A47-561E-465A-A6B1-ADF332ABEB53}" type="datetime5">
              <a:rPr lang="en-US" smtClean="0"/>
              <a:pPr>
                <a:defRPr/>
              </a:pPr>
              <a:t>20-Jul-26</a:t>
            </a:fld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629B9D-76A3-483C-9F6A-540A7409809D}" type="datetime5">
              <a:rPr lang="en-US" smtClean="0"/>
              <a:pPr>
                <a:defRPr/>
              </a:pPr>
              <a:t>20-Jul-26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E52A7-64DF-4833-A86F-A3F47E2AC27C}" type="datetime5">
              <a:rPr lang="en-US" smtClean="0"/>
              <a:pPr>
                <a:defRPr/>
              </a:pPr>
              <a:t>20-Jul-26</a:t>
            </a:fld>
            <a:endParaRPr lang="en-US" dirty="0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4E39E-479B-4003-953E-8F945459897C}" type="datetime5">
              <a:rPr lang="en-US" smtClean="0"/>
              <a:pPr>
                <a:defRPr/>
              </a:pPr>
              <a:t>20-Jul-26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6DFE3-E17F-466C-8AC1-52E2468DF967}" type="datetime5">
              <a:rPr lang="en-US" smtClean="0"/>
              <a:pPr>
                <a:defRPr/>
              </a:pPr>
              <a:t>20-Jul-26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595922-CB65-4694-88E1-0389563862D8}" type="datetime5">
              <a:rPr lang="en-US" smtClean="0"/>
              <a:pPr>
                <a:defRPr/>
              </a:pPr>
              <a:t>20-Jul-26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FD4F-3980-456F-B545-8D53309EA37E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5EB8F-F371-4484-A84C-21A1B01158C7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79A4-C0B2-4C81-A4FB-1E5B80AD0B49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2897-C65B-406D-A588-744D383CA7DE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F1FA1-8458-4129-924B-7532EDD86147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E24D-4434-424D-9C75-6E46573DFD75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F143-239B-42CE-BE0F-55E3CD594915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D920-F682-4A55-B63F-48C8F1CC1283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7B04-B5F9-4630-A128-87B4B92EA18E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A310-130A-439C-B3E5-0906939592AC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B05B-E5CC-4464-9BB7-7BCCF84A07E4}" type="datetime5">
              <a:rPr lang="en-US" smtClean="0"/>
              <a:pPr/>
              <a:t>20-Jul-26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573B2-5186-4EA1-B709-D1438BA10970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369F-A3ED-4071-A75D-258CD23F1EC5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E41D-AD20-4582-96A9-26AE005D4E42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45C0-2AC4-4702-9C85-BED29F3D5C77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8E6B-3CEE-468F-BE48-CC50E9D8E64E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CE50-1432-4FE3-B49C-8A04528B6EFC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31A2-936F-4415-B2A7-7A973F13EE44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FD456-933D-482B-A38F-44A2D1FBACCD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65F44-41B5-44CF-9451-A8CFAFD511C5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0F398-5194-4922-94CC-66A368E58A46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A51E7-B80F-47BE-909C-C69C302A4ACA}" type="datetime5">
              <a:rPr lang="en-US" smtClean="0"/>
              <a:pPr/>
              <a:t>20-Jul-26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9D6E878-1374-43BF-9C46-281CCE7F38C1}" type="datetime5">
              <a:rPr lang="en-US" smtClean="0"/>
              <a:pPr>
                <a:defRPr/>
              </a:pPr>
              <a:t>20-Jul-26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5" r:id="rId1"/>
    <p:sldLayoutId id="2147484566" r:id="rId2"/>
    <p:sldLayoutId id="2147484567" r:id="rId3"/>
    <p:sldLayoutId id="2147484568" r:id="rId4"/>
    <p:sldLayoutId id="2147484569" r:id="rId5"/>
    <p:sldLayoutId id="2147484570" r:id="rId6"/>
    <p:sldLayoutId id="2147484571" r:id="rId7"/>
    <p:sldLayoutId id="2147484572" r:id="rId8"/>
    <p:sldLayoutId id="2147484575" r:id="rId9"/>
    <p:sldLayoutId id="2147484573" r:id="rId10"/>
    <p:sldLayoutId id="2147484574" r:id="rId11"/>
    <p:sldLayoutId id="2147484603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B0F85-54C5-4371-92E9-C441160297C0}" type="datetime5">
              <a:rPr lang="en-US" smtClean="0"/>
              <a:pPr/>
              <a:t>20-Jul-26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92" r:id="rId1"/>
    <p:sldLayoutId id="2147484593" r:id="rId2"/>
    <p:sldLayoutId id="2147484594" r:id="rId3"/>
    <p:sldLayoutId id="2147484595" r:id="rId4"/>
    <p:sldLayoutId id="2147484596" r:id="rId5"/>
    <p:sldLayoutId id="2147484597" r:id="rId6"/>
    <p:sldLayoutId id="2147484598" r:id="rId7"/>
    <p:sldLayoutId id="2147484599" r:id="rId8"/>
    <p:sldLayoutId id="2147484600" r:id="rId9"/>
    <p:sldLayoutId id="2147484601" r:id="rId10"/>
    <p:sldLayoutId id="2147484602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A4985-C20B-43A0-A3C8-38EB8430E818}" type="datetime5">
              <a:rPr lang="en-US" smtClean="0"/>
              <a:pPr/>
              <a:t>20-Jul-26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80" r:id="rId1"/>
    <p:sldLayoutId id="2147484581" r:id="rId2"/>
    <p:sldLayoutId id="2147484582" r:id="rId3"/>
    <p:sldLayoutId id="2147484583" r:id="rId4"/>
    <p:sldLayoutId id="2147484584" r:id="rId5"/>
    <p:sldLayoutId id="2147484585" r:id="rId6"/>
    <p:sldLayoutId id="2147484586" r:id="rId7"/>
    <p:sldLayoutId id="2147484587" r:id="rId8"/>
    <p:sldLayoutId id="2147484588" r:id="rId9"/>
    <p:sldLayoutId id="2147484589" r:id="rId10"/>
    <p:sldLayoutId id="2147484590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>
            <a:lum/>
          </a:blip>
          <a:srcRect/>
          <a:tile tx="0" ty="0" sx="100000" sy="8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Subtitle 2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924800" cy="1953064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CBEF2C-2FC6-4550-AD19-8608845C5ED5}" type="datetime5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20-Jul-26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87824" y="-2416"/>
            <a:ext cx="6108091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="1" dirty="0">
              <a:ln w="0"/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KONGU ENGINEERING COLLEGE</a:t>
            </a:r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>
              <a:spcAft>
                <a:spcPts val="600"/>
              </a:spcAft>
            </a:pPr>
            <a:r>
              <a:rPr lang="en-US" sz="1200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PERUNDURAI ERODE-638060</a:t>
            </a:r>
          </a:p>
          <a:p>
            <a:pPr algn="ctr"/>
            <a:endParaRPr lang="en-US" sz="1200" b="1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DEPARTMENT OF</a:t>
            </a:r>
            <a:b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000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ARTIFICIAL INTELLIGENCE AND </a:t>
            </a:r>
            <a:br>
              <a:rPr lang="en-US" sz="2000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SCIENCE</a:t>
            </a:r>
          </a:p>
          <a:p>
            <a:pPr algn="ctr"/>
            <a:endParaRPr lang="en-US" sz="2000" b="1" dirty="0">
              <a:ln w="0"/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000" b="1" dirty="0">
              <a:ln w="0"/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0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87824" y="1728329"/>
            <a:ext cx="61424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ENDOCORE WORKSTATION</a:t>
            </a:r>
            <a:r>
              <a:rPr lang="en-IN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MULTIMODEL </a:t>
            </a:r>
            <a:r>
              <a:rPr lang="en-I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AGENTIC FRAMEWORK FOR INTELLIGENT WORKSPACE MONITORING USING ACTIVITY TRACKING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02AFFD-8CB1-4416-B227-37B6A21D8984}"/>
              </a:ext>
            </a:extLst>
          </p:cNvPr>
          <p:cNvSpPr txBox="1"/>
          <p:nvPr/>
        </p:nvSpPr>
        <p:spPr>
          <a:xfrm>
            <a:off x="3022199" y="3212976"/>
            <a:ext cx="610809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Team Members: </a:t>
            </a:r>
            <a:r>
              <a:rPr lang="en-US" sz="2000" b="1" dirty="0" err="1">
                <a:solidFill>
                  <a:schemeClr val="tx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Tawfeeq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B (23ADR172)</a:t>
            </a:r>
          </a:p>
          <a:p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US" sz="2000" b="1" dirty="0" err="1">
                <a:solidFill>
                  <a:schemeClr val="tx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Subiksha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M (23ADR163)</a:t>
            </a:r>
          </a:p>
          <a:p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US" sz="2000" b="1" dirty="0" err="1">
                <a:solidFill>
                  <a:schemeClr val="tx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Pugazhvendhan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 (23ADR135)</a:t>
            </a:r>
            <a:endParaRPr lang="en-US" b="1" dirty="0">
              <a:solidFill>
                <a:schemeClr val="tx2"/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Team Mentor :  </a:t>
            </a:r>
            <a:r>
              <a:rPr lang="en-US" b="1" dirty="0" err="1">
                <a:solidFill>
                  <a:schemeClr val="tx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Ms.M.Harini</a:t>
            </a: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AP/AI</a:t>
            </a:r>
          </a:p>
          <a:p>
            <a:endParaRPr 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517"/>
            <a:ext cx="1259632" cy="1517856"/>
          </a:xfrm>
          <a:prstGeom prst="rect">
            <a:avLst/>
          </a:prstGeom>
        </p:spPr>
      </p:pic>
      <p:pic>
        <p:nvPicPr>
          <p:cNvPr id="18" name="Picture 17" descr="G:\TBI\TBI@KEC Logos\K Transform\6-5x4 product centre.jp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301" y="1335590"/>
            <a:ext cx="1713898" cy="1490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95DFB051-9E2E-4191-A78C-24BEC80B8791}" type="slidenum">
              <a:rPr lang="en-US" altLang="en-US">
                <a:solidFill>
                  <a:srgbClr val="FFFFFF"/>
                </a:solidFill>
              </a:rPr>
              <a:pPr/>
              <a:t>2</a:t>
            </a:fld>
            <a:endParaRPr lang="en-US" altLang="en-US">
              <a:solidFill>
                <a:srgbClr val="FFFFFF"/>
              </a:solidFill>
            </a:endParaRPr>
          </a:p>
        </p:txBody>
      </p:sp>
      <p:pic>
        <p:nvPicPr>
          <p:cNvPr id="6" name="Picture 5" descr="kec2blackborder png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12038"/>
            <a:ext cx="508210" cy="63272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70903" y="764704"/>
            <a:ext cx="7848872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                   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Sustainable Development Goal ( SDG)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Sustainable Development Goal: SDG 9 – Industry, Innovation and Infrastructure</a:t>
            </a:r>
          </a:p>
          <a:p>
            <a:endParaRPr lang="en-US" sz="1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Contribution of the project: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Promotes AI-driven software development.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Enhances productivity through autonomous AI agents.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Encourages innovation using </a:t>
            </a:r>
            <a:r>
              <a:rPr lang="en-SG" dirty="0" err="1">
                <a:latin typeface="Times New Roman" pitchFamily="18" charset="0"/>
                <a:cs typeface="Times New Roman" pitchFamily="18" charset="0"/>
              </a:rPr>
              <a:t>Agentic</a:t>
            </a:r>
            <a:r>
              <a:rPr lang="en-SG" dirty="0">
                <a:latin typeface="Times New Roman" pitchFamily="18" charset="0"/>
                <a:cs typeface="Times New Roman" pitchFamily="18" charset="0"/>
              </a:rPr>
              <a:t> AI and LLMs.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Supports intelligent digital infrastructure for collaborative work.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Improves software engineering efficiency with real-time monitoring and AI assistance.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Outcome: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Faster software development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Improved team collaboration Increased innovation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Smarter and more sustainable digital workplaces</a:t>
            </a:r>
          </a:p>
          <a:p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"Our project supports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SDG 9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by leveraging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Agentic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AI and Large Language Models to build an innovative, intelligent, and efficient software development environment."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795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ED357739-F070-4EFC-A6E5-5A83E9C68C58}" type="slidenum">
              <a:rPr lang="en-US" altLang="en-US">
                <a:solidFill>
                  <a:srgbClr val="FFFFFF"/>
                </a:solidFill>
              </a:rPr>
              <a:pPr/>
              <a:t>3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7412" name="Content Placeholder 2"/>
          <p:cNvSpPr>
            <a:spLocks noGrp="1"/>
          </p:cNvSpPr>
          <p:nvPr>
            <p:ph sz="quarter" idx="1"/>
          </p:nvPr>
        </p:nvSpPr>
        <p:spPr>
          <a:xfrm>
            <a:off x="1403648" y="685338"/>
            <a:ext cx="7488832" cy="527084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                 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SYSTEM STUDY – PROBLEM STATEMENT</a:t>
            </a:r>
          </a:p>
          <a:p>
            <a:pPr marL="0" indent="0" eaLnBrk="1" hangingPunct="1">
              <a:buNone/>
            </a:pPr>
            <a:endParaRPr lang="en-SG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EXISTING PROBLEMS: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No intelligent monitoring of developer progress 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Team members work in isolation 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Difficult to identify blocked developers 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Lack of personalized AI assistance 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High cognitive workload 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Delayed project completion</a:t>
            </a:r>
          </a:p>
          <a:p>
            <a:pPr marL="0" indent="0"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EXISTING SYSTEM: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Traditional project monitoring tools include:</a:t>
            </a:r>
          </a:p>
          <a:p>
            <a:pPr marL="1268413" indent="-285750">
              <a:buFont typeface="Arial" pitchFamily="34" charset="0"/>
              <a:buChar char="•"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Jira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268413" indent="-285750">
              <a:buFont typeface="Arial" pitchFamily="34" charset="0"/>
              <a:buChar char="•"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Trello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268413" indent="-285750">
              <a:buFont typeface="Arial" pitchFamily="34" charset="0"/>
              <a:buChar char="•"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Projects </a:t>
            </a:r>
          </a:p>
          <a:p>
            <a:pPr marL="1268413" indent="-285750"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VS Code Extensions</a:t>
            </a:r>
          </a:p>
          <a:p>
            <a:pPr marL="0" indent="0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3" name="Date Placeholder 3"/>
          <p:cNvSpPr txBox="1">
            <a:spLocks/>
          </p:cNvSpPr>
          <p:nvPr/>
        </p:nvSpPr>
        <p:spPr bwMode="auto">
          <a:xfrm>
            <a:off x="533400" y="6251575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  <p:pic>
        <p:nvPicPr>
          <p:cNvPr id="7" name="Picture 6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643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95DFB051-9E2E-4191-A78C-24BEC80B8791}" type="slidenum">
              <a:rPr lang="en-US" altLang="en-US">
                <a:solidFill>
                  <a:srgbClr val="FFFFFF"/>
                </a:solidFill>
              </a:rPr>
              <a:pPr/>
              <a:t>4</a:t>
            </a:fld>
            <a:endParaRPr lang="en-US" altLang="en-US">
              <a:solidFill>
                <a:srgbClr val="FFFFFF"/>
              </a:solidFill>
            </a:endParaRPr>
          </a:p>
        </p:txBody>
      </p:sp>
      <p:pic>
        <p:nvPicPr>
          <p:cNvPr id="6" name="Picture 5" descr="kec2blackborder png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12038"/>
            <a:ext cx="508210" cy="63272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99592" y="1196752"/>
            <a:ext cx="7848872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                                  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PROJECT GOAL </a:t>
            </a: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Project Goal:</a:t>
            </a:r>
            <a:br>
              <a:rPr lang="en-SG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To develop an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AI-powered multi-agent workspace monitoring system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that intelligently observes developers' activities, identifies productivity bottlenecks, and provides autonomous assistance using Large Language Models (LLMs).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Objectives: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Monitor developer activities in real time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Detect when developers are stuck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Provide AI-generated suggestions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Improve collaboration among team members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Reduce cognitive overload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494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95DFB051-9E2E-4191-A78C-24BEC80B8791}" type="slidenum">
              <a:rPr lang="en-US" altLang="en-US">
                <a:solidFill>
                  <a:srgbClr val="FFFFFF"/>
                </a:solidFill>
              </a:rPr>
              <a:pPr/>
              <a:t>5</a:t>
            </a:fld>
            <a:endParaRPr lang="en-US" altLang="en-US">
              <a:solidFill>
                <a:srgbClr val="FFFFFF"/>
              </a:solidFill>
            </a:endParaRPr>
          </a:p>
        </p:txBody>
      </p:sp>
      <p:pic>
        <p:nvPicPr>
          <p:cNvPr id="6" name="Picture 5" descr="kec2blackborder png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12038"/>
            <a:ext cx="508210" cy="63272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99592" y="764704"/>
            <a:ext cx="784887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                                 PROPOSED SYSTEM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PROPOSED IDEA: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SG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SG" b="1" dirty="0">
                <a:latin typeface="Times New Roman" pitchFamily="18" charset="0"/>
                <a:cs typeface="Times New Roman" pitchFamily="18" charset="0"/>
              </a:rPr>
              <a:t>Multi-Agent AI Workspace</a:t>
            </a:r>
            <a:r>
              <a:rPr lang="en-SG" dirty="0">
                <a:latin typeface="Times New Roman" pitchFamily="18" charset="0"/>
                <a:cs typeface="Times New Roman" pitchFamily="18" charset="0"/>
              </a:rPr>
              <a:t> consisting of intelligent software agents.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SG" b="1" dirty="0">
                <a:latin typeface="Times New Roman" pitchFamily="18" charset="0"/>
                <a:cs typeface="Times New Roman" pitchFamily="18" charset="0"/>
              </a:rPr>
              <a:t>Agents:</a:t>
            </a:r>
          </a:p>
          <a:p>
            <a:pPr marL="896938"/>
            <a:r>
              <a:rPr lang="en-SG" b="1" dirty="0">
                <a:latin typeface="Times New Roman" pitchFamily="18" charset="0"/>
                <a:cs typeface="Times New Roman" pitchFamily="18" charset="0"/>
              </a:rPr>
              <a:t>Observation Agent:</a:t>
            </a:r>
          </a:p>
          <a:p>
            <a:pPr marL="1182688" indent="-285750">
              <a:buFont typeface="Arial" pitchFamily="34" charset="0"/>
              <a:buChar char="•"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Monitors coding activity </a:t>
            </a:r>
          </a:p>
          <a:p>
            <a:pPr marL="1182688" indent="-285750">
              <a:buFont typeface="Arial" pitchFamily="34" charset="0"/>
              <a:buChar char="•"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Tracks compile errors </a:t>
            </a:r>
          </a:p>
          <a:p>
            <a:pPr marL="1182688" indent="-285750">
              <a:buFont typeface="Arial" pitchFamily="34" charset="0"/>
              <a:buChar char="•"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Detects idle time </a:t>
            </a:r>
          </a:p>
          <a:p>
            <a:pPr marL="1182688" indent="-285750">
              <a:buFont typeface="Arial" pitchFamily="34" charset="0"/>
              <a:buChar char="•"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Records Git activities </a:t>
            </a:r>
          </a:p>
          <a:p>
            <a:pPr marL="896938"/>
            <a:r>
              <a:rPr lang="en-SG" b="1" dirty="0">
                <a:latin typeface="Times New Roman" pitchFamily="18" charset="0"/>
                <a:cs typeface="Times New Roman" pitchFamily="18" charset="0"/>
              </a:rPr>
              <a:t>Scrum Coordination Agent</a:t>
            </a:r>
          </a:p>
          <a:p>
            <a:pPr marL="1182688" indent="-285750">
              <a:buFont typeface="Arial" pitchFamily="34" charset="0"/>
              <a:buChar char="•"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Uses Gemini LLM </a:t>
            </a:r>
          </a:p>
          <a:p>
            <a:pPr marL="1182688" indent="-285750">
              <a:buFont typeface="Arial" pitchFamily="34" charset="0"/>
              <a:buChar char="•"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Identifies blocked developers </a:t>
            </a:r>
          </a:p>
          <a:p>
            <a:pPr marL="1182688" indent="-285750">
              <a:buFont typeface="Arial" pitchFamily="34" charset="0"/>
              <a:buChar char="•"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Suggests teammates with similar solutions </a:t>
            </a:r>
          </a:p>
          <a:p>
            <a:pPr marL="1182688" indent="-285750">
              <a:buFont typeface="Arial" pitchFamily="34" charset="0"/>
              <a:buChar char="•"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Generates coding recommendations </a:t>
            </a:r>
          </a:p>
          <a:p>
            <a:pPr marL="896938"/>
            <a:r>
              <a:rPr lang="en-SG" b="1" dirty="0">
                <a:latin typeface="Times New Roman" pitchFamily="18" charset="0"/>
                <a:cs typeface="Times New Roman" pitchFamily="18" charset="0"/>
              </a:rPr>
              <a:t>Wellness Agent</a:t>
            </a:r>
          </a:p>
          <a:p>
            <a:pPr marL="1182688" indent="-285750">
              <a:buFont typeface="Arial" pitchFamily="34" charset="0"/>
              <a:buChar char="•"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Monitors work duration </a:t>
            </a:r>
          </a:p>
          <a:p>
            <a:pPr marL="1182688" indent="-285750">
              <a:buFont typeface="Arial" pitchFamily="34" charset="0"/>
              <a:buChar char="•"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Detects cognitive overload </a:t>
            </a:r>
          </a:p>
          <a:p>
            <a:pPr marL="1182688" indent="-285750">
              <a:buFont typeface="Arial" pitchFamily="34" charset="0"/>
              <a:buChar char="•"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Suggests short breaks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284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ED357739-F070-4EFC-A6E5-5A83E9C68C58}" type="slidenum">
              <a:rPr lang="en-US" altLang="en-US">
                <a:solidFill>
                  <a:srgbClr val="FFFFFF"/>
                </a:solidFill>
              </a:rPr>
              <a:pPr/>
              <a:t>6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7412" name="Content Placeholder 2"/>
          <p:cNvSpPr>
            <a:spLocks noGrp="1"/>
          </p:cNvSpPr>
          <p:nvPr>
            <p:ph sz="quarter" idx="1"/>
          </p:nvPr>
        </p:nvSpPr>
        <p:spPr>
          <a:xfrm>
            <a:off x="1115616" y="980728"/>
            <a:ext cx="7848872" cy="527084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                   </a:t>
            </a:r>
            <a:endParaRPr lang="en-SG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3" name="Date Placeholder 3"/>
          <p:cNvSpPr txBox="1">
            <a:spLocks/>
          </p:cNvSpPr>
          <p:nvPr/>
        </p:nvSpPr>
        <p:spPr bwMode="auto">
          <a:xfrm>
            <a:off x="533400" y="6251575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  <p:pic>
        <p:nvPicPr>
          <p:cNvPr id="7" name="Picture 6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048B7F-5D54-E067-3873-1EFBF844A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060" y="685338"/>
            <a:ext cx="8018996" cy="60226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6180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ED357739-F070-4EFC-A6E5-5A83E9C68C58}" type="slidenum">
              <a:rPr lang="en-US" altLang="en-US">
                <a:solidFill>
                  <a:srgbClr val="FFFFFF"/>
                </a:solidFill>
              </a:rPr>
              <a:pPr/>
              <a:t>7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7412" name="Content Placeholder 2"/>
          <p:cNvSpPr>
            <a:spLocks noGrp="1"/>
          </p:cNvSpPr>
          <p:nvPr>
            <p:ph sz="quarter" idx="1"/>
          </p:nvPr>
        </p:nvSpPr>
        <p:spPr>
          <a:xfrm>
            <a:off x="971600" y="1196752"/>
            <a:ext cx="7992888" cy="527707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PROPOSED FEATURES:</a:t>
            </a:r>
          </a:p>
          <a:p>
            <a:pPr marL="0" indent="0">
              <a:buNone/>
            </a:pPr>
            <a:endParaRPr lang="en-SG" b="1" dirty="0">
              <a:latin typeface="Times New Roman" pitchFamily="18" charset="0"/>
              <a:cs typeface="Times New Roman" pitchFamily="18" charset="0"/>
            </a:endParaRPr>
          </a:p>
          <a:p>
            <a:pPr marL="628650" indent="0">
              <a:buNone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✔ Real-time developer monitoring</a:t>
            </a:r>
          </a:p>
          <a:p>
            <a:pPr marL="628650" indent="0">
              <a:buNone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✔ AI-powered assistance</a:t>
            </a:r>
          </a:p>
          <a:p>
            <a:pPr marL="628650" indent="0">
              <a:buNone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✔ Multi-agent collaboration</a:t>
            </a:r>
          </a:p>
          <a:p>
            <a:pPr marL="628650" indent="0">
              <a:buNone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✔ Automatic issue detection</a:t>
            </a:r>
          </a:p>
          <a:p>
            <a:pPr marL="628650" indent="0">
              <a:buNone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✔ Smart developer matching</a:t>
            </a:r>
          </a:p>
          <a:p>
            <a:pPr marL="628650" indent="0">
              <a:buNone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✔ Productivity analytics</a:t>
            </a:r>
          </a:p>
          <a:p>
            <a:pPr marL="628650" indent="0">
              <a:buNone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✔ Wellness recommendations</a:t>
            </a:r>
          </a:p>
          <a:p>
            <a:pPr marL="628650" indent="0">
              <a:buNone/>
            </a:pPr>
            <a:r>
              <a:rPr lang="en-SG" dirty="0">
                <a:latin typeface="Times New Roman" pitchFamily="18" charset="0"/>
                <a:cs typeface="Times New Roman" pitchFamily="18" charset="0"/>
              </a:rPr>
              <a:t>✔ Live dashboard</a:t>
            </a:r>
          </a:p>
        </p:txBody>
      </p:sp>
      <p:sp>
        <p:nvSpPr>
          <p:cNvPr id="17413" name="Date Placeholder 3"/>
          <p:cNvSpPr txBox="1">
            <a:spLocks/>
          </p:cNvSpPr>
          <p:nvPr/>
        </p:nvSpPr>
        <p:spPr bwMode="auto">
          <a:xfrm>
            <a:off x="533400" y="6251575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  <p:pic>
        <p:nvPicPr>
          <p:cNvPr id="7" name="Picture 6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25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ED357739-F070-4EFC-A6E5-5A83E9C68C58}" type="slidenum">
              <a:rPr lang="en-US" altLang="en-US">
                <a:solidFill>
                  <a:srgbClr val="FFFFFF"/>
                </a:solidFill>
              </a:rPr>
              <a:pPr/>
              <a:t>8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7412" name="Content Placeholder 2"/>
          <p:cNvSpPr>
            <a:spLocks noGrp="1"/>
          </p:cNvSpPr>
          <p:nvPr>
            <p:ph sz="quarter" idx="1"/>
          </p:nvPr>
        </p:nvSpPr>
        <p:spPr>
          <a:xfrm>
            <a:off x="827584" y="497084"/>
            <a:ext cx="8136904" cy="5754492"/>
          </a:xfrm>
        </p:spPr>
        <p:txBody>
          <a:bodyPr/>
          <a:lstStyle/>
          <a:p>
            <a:pPr eaLnBrk="1" hangingPunct="1"/>
            <a:endParaRPr lang="en-SG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                                       </a:t>
            </a:r>
            <a:r>
              <a:rPr lang="en-SG" sz="2400" b="1" dirty="0">
                <a:latin typeface="Times New Roman" pitchFamily="18" charset="0"/>
                <a:cs typeface="Times New Roman" pitchFamily="18" charset="0"/>
              </a:rPr>
              <a:t>Algorithms &amp; Technologies</a:t>
            </a:r>
          </a:p>
          <a:p>
            <a:pPr marL="0" indent="0">
              <a:buNone/>
            </a:pPr>
            <a:endParaRPr lang="en-SG" sz="1800" b="1" dirty="0"/>
          </a:p>
          <a:p>
            <a:pPr marL="0" indent="0" algn="just">
              <a:buNone/>
            </a:pPr>
            <a:r>
              <a:rPr lang="en-SG" b="1" dirty="0" err="1">
                <a:latin typeface="Times New Roman" pitchFamily="18" charset="0"/>
                <a:cs typeface="Times New Roman" pitchFamily="18" charset="0"/>
              </a:rPr>
              <a:t>Agentic</a:t>
            </a:r>
            <a:r>
              <a:rPr lang="en-SG" b="1" dirty="0">
                <a:latin typeface="Times New Roman" pitchFamily="18" charset="0"/>
                <a:cs typeface="Times New Roman" pitchFamily="18" charset="0"/>
              </a:rPr>
              <a:t> AI</a:t>
            </a:r>
          </a:p>
          <a:p>
            <a:pPr algn="just"/>
            <a:r>
              <a:rPr lang="en-SG" dirty="0">
                <a:latin typeface="Times New Roman" pitchFamily="18" charset="0"/>
                <a:cs typeface="Times New Roman" pitchFamily="18" charset="0"/>
              </a:rPr>
              <a:t>Autonomous decision-making agents</a:t>
            </a:r>
          </a:p>
          <a:p>
            <a:pPr marL="0" indent="0" algn="just">
              <a:buNone/>
            </a:pPr>
            <a:r>
              <a:rPr lang="en-SG" b="1" dirty="0">
                <a:latin typeface="Times New Roman" pitchFamily="18" charset="0"/>
                <a:cs typeface="Times New Roman" pitchFamily="18" charset="0"/>
              </a:rPr>
              <a:t>Large Language Model</a:t>
            </a:r>
          </a:p>
          <a:p>
            <a:pPr algn="just"/>
            <a:r>
              <a:rPr lang="en-SG" dirty="0">
                <a:latin typeface="Times New Roman" pitchFamily="18" charset="0"/>
                <a:cs typeface="Times New Roman" pitchFamily="18" charset="0"/>
              </a:rPr>
              <a:t>Gemini 3.5 Flash API</a:t>
            </a:r>
          </a:p>
          <a:p>
            <a:pPr marL="0" indent="0" algn="just">
              <a:buNone/>
            </a:pPr>
            <a:r>
              <a:rPr lang="en-SG" b="1" dirty="0">
                <a:latin typeface="Times New Roman" pitchFamily="18" charset="0"/>
                <a:cs typeface="Times New Roman" pitchFamily="18" charset="0"/>
              </a:rPr>
              <a:t>Event-Driven Architecture</a:t>
            </a:r>
          </a:p>
          <a:p>
            <a:pPr algn="just"/>
            <a:r>
              <a:rPr lang="en-SG" dirty="0">
                <a:latin typeface="Times New Roman" pitchFamily="18" charset="0"/>
                <a:cs typeface="Times New Roman" pitchFamily="18" charset="0"/>
              </a:rPr>
              <a:t>Socket.IO</a:t>
            </a:r>
          </a:p>
          <a:p>
            <a:pPr marL="0" indent="0" algn="just">
              <a:buNone/>
            </a:pPr>
            <a:r>
              <a:rPr lang="en-SG" b="1" dirty="0">
                <a:latin typeface="Times New Roman" pitchFamily="18" charset="0"/>
                <a:cs typeface="Times New Roman" pitchFamily="18" charset="0"/>
              </a:rPr>
              <a:t>Context Analysis</a:t>
            </a:r>
          </a:p>
          <a:p>
            <a:pPr algn="just"/>
            <a:r>
              <a:rPr lang="en-SG" dirty="0">
                <a:latin typeface="Times New Roman" pitchFamily="18" charset="0"/>
                <a:cs typeface="Times New Roman" pitchFamily="18" charset="0"/>
              </a:rPr>
              <a:t>Developer activity analysis</a:t>
            </a:r>
          </a:p>
          <a:p>
            <a:pPr marL="0" indent="0" algn="just">
              <a:buNone/>
            </a:pPr>
            <a:r>
              <a:rPr lang="en-SG" b="1" dirty="0">
                <a:latin typeface="Times New Roman" pitchFamily="18" charset="0"/>
                <a:cs typeface="Times New Roman" pitchFamily="18" charset="0"/>
              </a:rPr>
              <a:t>Pattern Recognition</a:t>
            </a:r>
          </a:p>
          <a:p>
            <a:pPr algn="just"/>
            <a:r>
              <a:rPr lang="en-SG" dirty="0">
                <a:latin typeface="Times New Roman" pitchFamily="18" charset="0"/>
                <a:cs typeface="Times New Roman" pitchFamily="18" charset="0"/>
              </a:rPr>
              <a:t>Repeated build failures</a:t>
            </a:r>
          </a:p>
          <a:p>
            <a:pPr marL="0" indent="0" algn="just">
              <a:buNone/>
            </a:pPr>
            <a:r>
              <a:rPr lang="en-SG" b="1" dirty="0">
                <a:latin typeface="Times New Roman" pitchFamily="18" charset="0"/>
                <a:cs typeface="Times New Roman" pitchFamily="18" charset="0"/>
              </a:rPr>
              <a:t>Recommendation Engine</a:t>
            </a:r>
          </a:p>
          <a:p>
            <a:pPr algn="just"/>
            <a:r>
              <a:rPr lang="en-SG" dirty="0">
                <a:latin typeface="Times New Roman" pitchFamily="18" charset="0"/>
                <a:cs typeface="Times New Roman" pitchFamily="18" charset="0"/>
              </a:rPr>
              <a:t>Suggests solutions using LLM</a:t>
            </a:r>
          </a:p>
          <a:p>
            <a:pPr marL="0" indent="0" eaLnBrk="1" hangingPunct="1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3" name="Date Placeholder 3"/>
          <p:cNvSpPr txBox="1">
            <a:spLocks/>
          </p:cNvSpPr>
          <p:nvPr/>
        </p:nvSpPr>
        <p:spPr bwMode="auto">
          <a:xfrm>
            <a:off x="533400" y="6251575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  <p:pic>
        <p:nvPicPr>
          <p:cNvPr id="7" name="Picture 6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16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ED357739-F070-4EFC-A6E5-5A83E9C68C58}" type="slidenum">
              <a:rPr lang="en-US" altLang="en-US">
                <a:solidFill>
                  <a:srgbClr val="FFFFFF"/>
                </a:solidFill>
              </a:rPr>
              <a:pPr/>
              <a:t>9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7412" name="Content Placeholder 2"/>
          <p:cNvSpPr>
            <a:spLocks noGrp="1"/>
          </p:cNvSpPr>
          <p:nvPr>
            <p:ph sz="quarter" idx="1"/>
          </p:nvPr>
        </p:nvSpPr>
        <p:spPr>
          <a:xfrm>
            <a:off x="1043608" y="685338"/>
            <a:ext cx="7920880" cy="5788487"/>
          </a:xfrm>
        </p:spPr>
        <p:txBody>
          <a:bodyPr/>
          <a:lstStyle/>
          <a:p>
            <a:pPr eaLnBrk="1" hangingPunct="1"/>
            <a:endParaRPr lang="en-SG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3" name="Date Placeholder 3"/>
          <p:cNvSpPr txBox="1">
            <a:spLocks/>
          </p:cNvSpPr>
          <p:nvPr/>
        </p:nvSpPr>
        <p:spPr bwMode="auto">
          <a:xfrm>
            <a:off x="508210" y="6251575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  <p:pic>
        <p:nvPicPr>
          <p:cNvPr id="7" name="Picture 6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2DB4BC-EE98-7C54-8FA3-4B6966D33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01" y="996268"/>
            <a:ext cx="8366547" cy="555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87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ED357739-F070-4EFC-A6E5-5A83E9C68C58}" type="slidenum">
              <a:rPr lang="en-US" altLang="en-US">
                <a:solidFill>
                  <a:srgbClr val="FFFFFF"/>
                </a:solidFill>
              </a:rPr>
              <a:pPr/>
              <a:t>10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7412" name="Content Placeholder 2"/>
          <p:cNvSpPr>
            <a:spLocks noGrp="1"/>
          </p:cNvSpPr>
          <p:nvPr>
            <p:ph sz="quarter" idx="1"/>
          </p:nvPr>
        </p:nvSpPr>
        <p:spPr>
          <a:xfrm>
            <a:off x="622662" y="980728"/>
            <a:ext cx="8341826" cy="549309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                              TECHNOLOGY STACK</a:t>
            </a:r>
          </a:p>
          <a:p>
            <a:pPr marL="0" indent="0" eaLnBrk="1" hangingPunct="1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3" name="Date Placeholder 3"/>
          <p:cNvSpPr txBox="1">
            <a:spLocks/>
          </p:cNvSpPr>
          <p:nvPr/>
        </p:nvSpPr>
        <p:spPr bwMode="auto">
          <a:xfrm>
            <a:off x="508210" y="6251575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  <p:pic>
        <p:nvPicPr>
          <p:cNvPr id="7" name="Picture 6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93824"/>
              </p:ext>
            </p:extLst>
          </p:nvPr>
        </p:nvGraphicFramePr>
        <p:xfrm>
          <a:off x="1651210" y="1916832"/>
          <a:ext cx="6096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COMPONENT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TECHNOLOGIES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FRONTEND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REACT.JS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BACKEND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EXPRESS.JS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DESKTOP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ELECTRON.JS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 MODEL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GEMINI 3.5 FLASH 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DATABASE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SQLite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COMMUNNICATION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SOCKET.IO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VERSION CONTROL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GIT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LANGUAGE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JAVASCRIPT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040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ED357739-F070-4EFC-A6E5-5A83E9C68C58}" type="slidenum">
              <a:rPr lang="en-US" altLang="en-US">
                <a:solidFill>
                  <a:srgbClr val="FFFFFF"/>
                </a:solidFill>
              </a:rPr>
              <a:pPr/>
              <a:t>11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7412" name="Content Placeholder 2"/>
          <p:cNvSpPr>
            <a:spLocks noGrp="1"/>
          </p:cNvSpPr>
          <p:nvPr>
            <p:ph sz="quarter" idx="1"/>
          </p:nvPr>
        </p:nvSpPr>
        <p:spPr>
          <a:xfrm>
            <a:off x="1043608" y="844088"/>
            <a:ext cx="7920880" cy="5788487"/>
          </a:xfrm>
        </p:spPr>
        <p:txBody>
          <a:bodyPr/>
          <a:lstStyle/>
          <a:p>
            <a:pPr eaLnBrk="1" hangingPunct="1"/>
            <a:endParaRPr lang="en-SG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FUTURE ENHANCEMENTS:</a:t>
            </a:r>
          </a:p>
          <a:p>
            <a:pPr marL="0" indent="0" eaLnBrk="1" hangingPunct="1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971550" indent="-342900" algn="just"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Voice-based AI assistant </a:t>
            </a:r>
          </a:p>
          <a:p>
            <a:pPr marL="971550" indent="-342900" algn="just"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Multi-LLM support </a:t>
            </a:r>
          </a:p>
          <a:p>
            <a:pPr marL="971550" indent="-342900" algn="just"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Mobile application </a:t>
            </a:r>
          </a:p>
          <a:p>
            <a:pPr marL="971550" indent="-342900" algn="just"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Predictive sprint planning </a:t>
            </a:r>
          </a:p>
          <a:p>
            <a:pPr marL="971550" indent="-342900" algn="just"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Object detection integration </a:t>
            </a:r>
          </a:p>
          <a:p>
            <a:pPr marL="971550" indent="-342900" algn="just"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Cloud deployment </a:t>
            </a:r>
          </a:p>
          <a:p>
            <a:pPr marL="971550" indent="-342900" algn="just"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Team performance forecasting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3" name="Date Placeholder 3"/>
          <p:cNvSpPr txBox="1">
            <a:spLocks/>
          </p:cNvSpPr>
          <p:nvPr/>
        </p:nvSpPr>
        <p:spPr bwMode="auto">
          <a:xfrm>
            <a:off x="508210" y="6251575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  <p:pic>
        <p:nvPicPr>
          <p:cNvPr id="7" name="Picture 6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86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ED357739-F070-4EFC-A6E5-5A83E9C68C58}" type="slidenum">
              <a:rPr lang="en-US" altLang="en-US">
                <a:solidFill>
                  <a:srgbClr val="FFFFFF"/>
                </a:solidFill>
              </a:rPr>
              <a:pPr/>
              <a:t>12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7412" name="Content Placeholder 2"/>
          <p:cNvSpPr>
            <a:spLocks noGrp="1"/>
          </p:cNvSpPr>
          <p:nvPr>
            <p:ph sz="quarter" idx="1"/>
          </p:nvPr>
        </p:nvSpPr>
        <p:spPr>
          <a:xfrm>
            <a:off x="611560" y="836712"/>
            <a:ext cx="8341826" cy="5493097"/>
          </a:xfrm>
        </p:spPr>
        <p:txBody>
          <a:bodyPr/>
          <a:lstStyle/>
          <a:p>
            <a:pPr eaLnBrk="1" hangingPunct="1"/>
            <a:endParaRPr lang="en-SG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REFERENCES:</a:t>
            </a:r>
          </a:p>
          <a:p>
            <a:pPr algn="just" eaLnBrk="1" hangingPunct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Attal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F., et al. (2015).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Physical Human Activity Recognition Using Wearable Sensors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Sensors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15, 31314–31338.</a:t>
            </a:r>
          </a:p>
          <a:p>
            <a:pPr algn="just"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Elangovan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R.,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Perumal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T., &amp;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Padmavathi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S. (2021).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Human Activity Recognition With Smartphone and Wearable Sensors Using Deep Learning Techniques: A Review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IEEE Sensors Journal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Li, L., et al. (2020).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 Review of Applications in Federated Learning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Computers &amp; Industrial Engineering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149, 106854. </a:t>
            </a:r>
          </a:p>
          <a:p>
            <a:pPr algn="just" eaLnBrk="1" hangingPunct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Trotta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A., et al. (2024).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Edge Human Activity Recognition Using Federated Learning on Constrained Devices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Pervasive and Mobile Computing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104, 101972. </a:t>
            </a:r>
          </a:p>
          <a:p>
            <a:pPr algn="just" eaLnBrk="1" hangingPunct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Kabir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M. R.,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Borshon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R. H., &amp; Khan, R. (2025).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Federated Learning for Human Activity Recognition: Balancing Privacy, Efficiency, and Accuracy Through Innovative Aggregation Techniques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Array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27, 100462.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3" name="Date Placeholder 3"/>
          <p:cNvSpPr txBox="1">
            <a:spLocks/>
          </p:cNvSpPr>
          <p:nvPr/>
        </p:nvSpPr>
        <p:spPr bwMode="auto">
          <a:xfrm>
            <a:off x="508210" y="6251575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Book Antiqua" panose="02040602050305030304" pitchFamily="18" charset="0"/>
            </a:endParaRPr>
          </a:p>
        </p:txBody>
      </p:sp>
      <p:pic>
        <p:nvPicPr>
          <p:cNvPr id="7" name="Picture 6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7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4659D-7D15-4636-BED0-AAF4BE80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2708920"/>
            <a:ext cx="7787208" cy="1152128"/>
          </a:xfrm>
        </p:spPr>
        <p:txBody>
          <a:bodyPr/>
          <a:lstStyle/>
          <a:p>
            <a:pPr marL="0" indent="0" algn="ctr">
              <a:buNone/>
            </a:pPr>
            <a:r>
              <a:rPr lang="en-IN" sz="66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Thank You !!</a:t>
            </a:r>
            <a:endParaRPr lang="en-US" sz="6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80226-49C8-4CEA-9F30-3C02E011C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413D5B-0279-47B2-AB44-E806A00ECAC5}" type="datetime5">
              <a:rPr lang="en-US" smtClean="0"/>
              <a:pPr>
                <a:defRPr/>
              </a:pPr>
              <a:t>20-Jul-26</a:t>
            </a:fld>
            <a:endParaRPr lang="en-US" dirty="0"/>
          </a:p>
        </p:txBody>
      </p:sp>
      <p:pic>
        <p:nvPicPr>
          <p:cNvPr id="5" name="Picture 4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340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10954</TotalTime>
  <Words>658</Words>
  <Application>Microsoft Office PowerPoint</Application>
  <PresentationFormat>On-screen Show (4:3)</PresentationFormat>
  <Paragraphs>167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Book Antiqua</vt:lpstr>
      <vt:lpstr>Calibri</vt:lpstr>
      <vt:lpstr>Times New Roman</vt:lpstr>
      <vt:lpstr>Wingdings</vt:lpstr>
      <vt:lpstr>Wingdings 2</vt:lpstr>
      <vt:lpstr>Flow</vt:lpstr>
      <vt:lpstr>1_Custom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KVITT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Staff</dc:creator>
  <cp:lastModifiedBy>TAWFEEQ BAHURUDEEN</cp:lastModifiedBy>
  <cp:revision>1488</cp:revision>
  <dcterms:created xsi:type="dcterms:W3CDTF">2013-12-25T07:56:38Z</dcterms:created>
  <dcterms:modified xsi:type="dcterms:W3CDTF">2026-07-20T02:40:49Z</dcterms:modified>
</cp:coreProperties>
</file>